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5a22e269824441" /><Relationship Type="http://schemas.openxmlformats.org/officeDocument/2006/relationships/extended-properties" Target="/docProps/app.xml" Id="Rb4eee64873574efc" /><Relationship Type="http://schemas.openxmlformats.org/officeDocument/2006/relationships/officeDocument" Target="/ppt/presentation.xml" Id="R046d30363ea34a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de1de4329f4a06"/>
  </p:sldMasterIdLst>
  <p:notesMasterIdLst>
    <p:notesMasterId xmlns:r="http://schemas.openxmlformats.org/officeDocument/2006/relationships" r:id="R1e9d6946059b4070"/>
  </p:notesMasterIdLst>
  <p:sldIdLst>
    <p:sldId xmlns:r="http://schemas.openxmlformats.org/officeDocument/2006/relationships" id="256" r:id="R9657cce2127f4b1f"/>
    <p:sldId xmlns:r="http://schemas.openxmlformats.org/officeDocument/2006/relationships" id="257" r:id="R8f0f94ea9ac24996"/>
    <p:sldId xmlns:r="http://schemas.openxmlformats.org/officeDocument/2006/relationships" id="258" r:id="R4e7f186df26f4b56"/>
    <p:sldId xmlns:r="http://schemas.openxmlformats.org/officeDocument/2006/relationships" id="259" r:id="Rdea31257ac304c9f"/>
    <p:sldId xmlns:r="http://schemas.openxmlformats.org/officeDocument/2006/relationships" id="260" r:id="R8c979c897995413f"/>
    <p:sldId xmlns:r="http://schemas.openxmlformats.org/officeDocument/2006/relationships" id="261" r:id="R0ba7cb7bcca043d8"/>
    <p:sldId xmlns:r="http://schemas.openxmlformats.org/officeDocument/2006/relationships" id="262" r:id="R07cecab1816647f2"/>
    <p:sldId xmlns:r="http://schemas.openxmlformats.org/officeDocument/2006/relationships" id="263" r:id="R71519353ef5d4171"/>
    <p:sldId xmlns:r="http://schemas.openxmlformats.org/officeDocument/2006/relationships" id="264" r:id="Rbc5836f2b2df46a8"/>
    <p:sldId xmlns:r="http://schemas.openxmlformats.org/officeDocument/2006/relationships" id="265" r:id="Rcca3a4ed26d548db"/>
    <p:sldId xmlns:r="http://schemas.openxmlformats.org/officeDocument/2006/relationships" id="266" r:id="R9397c61a204d4642"/>
    <p:sldId xmlns:r="http://schemas.openxmlformats.org/officeDocument/2006/relationships" id="267" r:id="R03d03d0d9f824af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6cc596eda544b5" /><Relationship Type="http://schemas.openxmlformats.org/officeDocument/2006/relationships/slideMaster" Target="/ppt/slideMasters/slideMaster1.xml" Id="Ra7de1de4329f4a06" /><Relationship Type="http://schemas.openxmlformats.org/officeDocument/2006/relationships/notesMaster" Target="/ppt/notesMasters/notesMaster1.xml" Id="R1e9d6946059b4070" /><Relationship Type="http://schemas.openxmlformats.org/officeDocument/2006/relationships/presProps" Target="/ppt/presProps.xml" Id="Rf61a53e99d574f90" /><Relationship Type="http://schemas.openxmlformats.org/officeDocument/2006/relationships/viewProps" Target="/ppt/viewProps.xml" Id="R0d82b42ad99c4b4a" /><Relationship Type="http://schemas.openxmlformats.org/officeDocument/2006/relationships/tableStyles" Target="/ppt/tableStyles.xml" Id="R00c66b2e05b741b0" /><Relationship Type="http://schemas.openxmlformats.org/officeDocument/2006/relationships/slide" Target="/ppt/slides/slide1.xml" Id="R9657cce2127f4b1f" /><Relationship Type="http://schemas.openxmlformats.org/officeDocument/2006/relationships/slide" Target="/ppt/slides/slide2.xml" Id="R8f0f94ea9ac24996" /><Relationship Type="http://schemas.openxmlformats.org/officeDocument/2006/relationships/slide" Target="/ppt/slides/slide3.xml" Id="R4e7f186df26f4b56" /><Relationship Type="http://schemas.openxmlformats.org/officeDocument/2006/relationships/slide" Target="/ppt/slides/slide4.xml" Id="Rdea31257ac304c9f" /><Relationship Type="http://schemas.openxmlformats.org/officeDocument/2006/relationships/slide" Target="/ppt/slides/slide5.xml" Id="R8c979c897995413f" /><Relationship Type="http://schemas.openxmlformats.org/officeDocument/2006/relationships/slide" Target="/ppt/slides/slide6.xml" Id="R0ba7cb7bcca043d8" /><Relationship Type="http://schemas.openxmlformats.org/officeDocument/2006/relationships/slide" Target="/ppt/slides/slide7.xml" Id="R07cecab1816647f2" /><Relationship Type="http://schemas.openxmlformats.org/officeDocument/2006/relationships/slide" Target="/ppt/slides/slide8.xml" Id="R71519353ef5d4171" /><Relationship Type="http://schemas.openxmlformats.org/officeDocument/2006/relationships/slide" Target="/ppt/slides/slide9.xml" Id="Rbc5836f2b2df46a8" /><Relationship Type="http://schemas.openxmlformats.org/officeDocument/2006/relationships/slide" Target="/ppt/slides/slide10.xml" Id="Rcca3a4ed26d548db" /><Relationship Type="http://schemas.openxmlformats.org/officeDocument/2006/relationships/slide" Target="/ppt/slides/slide11.xml" Id="R9397c61a204d4642" /><Relationship Type="http://schemas.openxmlformats.org/officeDocument/2006/relationships/slide" Target="/ppt/slides/slide12.xml" Id="R03d03d0d9f824a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33d93cf06c4f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d53d5622594eb6" /><Relationship Type="http://schemas.openxmlformats.org/officeDocument/2006/relationships/notesMaster" Target="/ppt/notesMasters/notesMaster1.xml" Id="R72bf1137004d44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f9f38c96b049e1" /><Relationship Type="http://schemas.openxmlformats.org/officeDocument/2006/relationships/notesMaster" Target="/ppt/notesMasters/notesMaster1.xml" Id="R9b0430546d0046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a94ce6497b495a" /><Relationship Type="http://schemas.openxmlformats.org/officeDocument/2006/relationships/notesMaster" Target="/ppt/notesMasters/notesMaster1.xml" Id="R63e3207ce41c47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86fc202f31428f" /><Relationship Type="http://schemas.openxmlformats.org/officeDocument/2006/relationships/notesMaster" Target="/ppt/notesMasters/notesMaster1.xml" Id="Ra3f0198eb8bb4e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198d05acf9465e" /><Relationship Type="http://schemas.openxmlformats.org/officeDocument/2006/relationships/notesMaster" Target="/ppt/notesMasters/notesMaster1.xml" Id="R66c8cb669c254d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7c1ba1ca104f2e" /><Relationship Type="http://schemas.openxmlformats.org/officeDocument/2006/relationships/notesMaster" Target="/ppt/notesMasters/notesMaster1.xml" Id="R57a449dd797d44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e0466a630945ba" /><Relationship Type="http://schemas.openxmlformats.org/officeDocument/2006/relationships/notesMaster" Target="/ppt/notesMasters/notesMaster1.xml" Id="R0a0b96d27e264c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11ef37c2334027" /><Relationship Type="http://schemas.openxmlformats.org/officeDocument/2006/relationships/notesMaster" Target="/ppt/notesMasters/notesMaster1.xml" Id="R4b6ccb16672b4c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ddefed5da144d2" /><Relationship Type="http://schemas.openxmlformats.org/officeDocument/2006/relationships/notesMaster" Target="/ppt/notesMasters/notesMaster1.xml" Id="R0a0dbb9dbafe40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3b462e655a4e9f" /><Relationship Type="http://schemas.openxmlformats.org/officeDocument/2006/relationships/notesMaster" Target="/ppt/notesMasters/notesMaster1.xml" Id="R782ee8ca54d049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a5049270694f14" /><Relationship Type="http://schemas.openxmlformats.org/officeDocument/2006/relationships/notesMaster" Target="/ppt/notesMasters/notesMaster1.xml" Id="R25ee29326bbc4b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3497fdbed64286" /><Relationship Type="http://schemas.openxmlformats.org/officeDocument/2006/relationships/notesMaster" Target="/ppt/notesMasters/notesMaster1.xml" Id="Raf30db85c47f48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33579e684244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57cb133d19487c" /><Relationship Type="http://schemas.openxmlformats.org/officeDocument/2006/relationships/slideLayout" Target="/ppt/slideLayouts/slideLayout1.xml" Id="Rcbcac4d9aecf49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cac4d9aecf49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38587d6d2496d" /><Relationship Type="http://schemas.openxmlformats.org/officeDocument/2006/relationships/notesSlide" Target="/ppt/notesSlides/notesSlide1.xml" Id="R4b8cd18fe95041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83420957a49c9" /><Relationship Type="http://schemas.openxmlformats.org/officeDocument/2006/relationships/notesSlide" Target="/ppt/notesSlides/notesSlide2.xml" Id="R3d31d33164d64b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ca5cdd06d4dcb" /><Relationship Type="http://schemas.openxmlformats.org/officeDocument/2006/relationships/notesSlide" Target="/ppt/notesSlides/notesSlide3.xml" Id="R27748c97faf746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03940ef2c4579" /><Relationship Type="http://schemas.openxmlformats.org/officeDocument/2006/relationships/notesSlide" Target="/ppt/notesSlides/notesSlide4.xml" Id="R2bf0899c93144c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44648c01f4d0b" /><Relationship Type="http://schemas.openxmlformats.org/officeDocument/2006/relationships/notesSlide" Target="/ppt/notesSlides/notesSlide5.xml" Id="R2a10dc7eac5049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c809ef1264b66" /><Relationship Type="http://schemas.openxmlformats.org/officeDocument/2006/relationships/notesSlide" Target="/ppt/notesSlides/notesSlide6.xml" Id="Rab16c06a159148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df34af78e4520" /><Relationship Type="http://schemas.openxmlformats.org/officeDocument/2006/relationships/notesSlide" Target="/ppt/notesSlides/notesSlide7.xml" Id="R9647898f2e7640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d3691b2e74e7b" /><Relationship Type="http://schemas.openxmlformats.org/officeDocument/2006/relationships/notesSlide" Target="/ppt/notesSlides/notesSlide8.xml" Id="Ree94247313f24e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fbf16290d4df0" /><Relationship Type="http://schemas.openxmlformats.org/officeDocument/2006/relationships/notesSlide" Target="/ppt/notesSlides/notesSlide9.xml" Id="R14e5f96de07e4e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634a6d2644bb0" /><Relationship Type="http://schemas.openxmlformats.org/officeDocument/2006/relationships/notesSlide" Target="/ppt/notesSlides/notesSlide10.xml" Id="R7f7a43884faa4f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8fca2ed9346ce" /><Relationship Type="http://schemas.openxmlformats.org/officeDocument/2006/relationships/notesSlide" Target="/ppt/notesSlides/notesSlide11.xml" Id="R37171254de6544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8d32595d14312" /><Relationship Type="http://schemas.openxmlformats.org/officeDocument/2006/relationships/notesSlide" Target="/ppt/notesSlides/notesSlide12.xml" Id="Rccacf3718dc544e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0F567E-ADF8-452D-B36F-E5B8EBB8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5B1D8-BF09-40FD-A7E9-CB74EAB7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EDE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FEDEA"/>
                </a:solidFill>
                <a:latin typeface="Aptos Display"/>
                <a:ea typeface="Aptos Display"/>
                <a:cs typeface="Aptos Display"/>
              </a:rPr>
              <a:t>GO2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9F64A-05BD-4704-8B7A-D14D64B2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EA"/>
          </a:solidFill>
          <a:ln xmlns:a="http://schemas.openxmlformats.org/drawingml/2006/main" w="0">
            <a:solidFill>
              <a:srgbClr val="BFED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E85D2-47D7-4D2A-B462-7FE9BDF8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Turn real work into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maintained automation.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8B479-66F8-4742-AF1F-97796D4A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581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3D0D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3D0D7"/>
                </a:solidFill>
                <a:latin typeface="Aptos"/>
                <a:ea typeface="Aptos"/>
                <a:cs typeface="Aptos"/>
              </a:rPr>
              <a:t>Go2 watches how work actually happens, shows where time leaks, and turns stable repeated work into a maintained automation layer.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5C29B-A01E-4F37-B03A-E6B25224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8191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658"/>
          </a:solidFill>
          <a:ln xmlns:a="http://schemas.openxmlformats.org/drawingml/2006/main" w="0">
            <a:solidFill>
              <a:srgbClr val="2C46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AB11C-34F1-45D5-ABEC-B6C37FE7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047750"/>
            <a:ext cx="33337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8"/>
          </a:solidFill>
          <a:ln xmlns:a="http://schemas.openxmlformats.org/drawingml/2006/main" w="9525">
            <a:solidFill>
              <a:srgbClr val="24445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CBA46-4809-4B1E-A1A9-24794620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314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FEDE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FEDEA"/>
                </a:solidFill>
                <a:latin typeface="Aptos"/>
                <a:ea typeface="Aptos"/>
                <a:cs typeface="Aptos"/>
              </a:rPr>
              <a:t>SOURCE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BD2F0-B2E1-4E86-8C22-9502AAED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14500"/>
            <a:ext cx="1381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$3m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D35363-F363-4BC3-BC3C-ABBB34C6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479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C7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C7CF"/>
                </a:solidFill>
                <a:latin typeface="Aptos"/>
                <a:ea typeface="Aptos"/>
                <a:cs typeface="Aptos"/>
              </a:rPr>
              <a:t>raise amount sourced from Andy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107091-A7D7-4757-BDD4-FB9DD177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95575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solidFill>
              <a:srgbClr val="C47A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DC976-84DF-4FA4-89D3-5973FD76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Pending before external send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7131B-9830-467B-AEE5-8B0453A1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57550"/>
            <a:ext cx="2476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2E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2E7"/>
                </a:solidFill>
                <a:latin typeface="Aptos"/>
                <a:ea typeface="Aptos"/>
                <a:cs typeface="Aptos"/>
              </a:rPr>
              <a:t>- pricing/range</a:t>
            </a:r>
          </a:p>
          <a:p xmlns:a="http://schemas.openxmlformats.org/drawingml/2006/main">
            <a:pPr algn="l">
              <a:defRPr sz="975" b="0">
                <a:solidFill>
                  <a:srgbClr val="D7E2E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2E7"/>
                </a:solidFill>
                <a:latin typeface="Aptos"/>
                <a:ea typeface="Aptos"/>
                <a:cs typeface="Aptos"/>
              </a:rPr>
              <a:t>- financial history</a:t>
            </a:r>
          </a:p>
          <a:p xmlns:a="http://schemas.openxmlformats.org/drawingml/2006/main">
            <a:pPr algn="l">
              <a:defRPr sz="975" b="0">
                <a:solidFill>
                  <a:srgbClr val="D7E2E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2E7"/>
                </a:solidFill>
                <a:latin typeface="Aptos"/>
                <a:ea typeface="Aptos"/>
                <a:cs typeface="Aptos"/>
              </a:rPr>
              <a:t>- new-offering margin</a:t>
            </a:r>
          </a:p>
          <a:p xmlns:a="http://schemas.openxmlformats.org/drawingml/2006/main">
            <a:pPr algn="l">
              <a:defRPr sz="975" b="0">
                <a:solidFill>
                  <a:srgbClr val="D7E2E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2E7"/>
                </a:solidFill>
                <a:latin typeface="Aptos"/>
                <a:ea typeface="Aptos"/>
                <a:cs typeface="Aptos"/>
              </a:rPr>
              <a:t>- proof counts/customer names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4B0422-2C57-491F-BF4F-74D12B08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00550"/>
            <a:ext cx="2619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C6C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3C6C1"/>
                </a:solidFill>
                <a:latin typeface="Aptos"/>
                <a:ea typeface="Aptos"/>
                <a:cs typeface="Aptos"/>
              </a:rPr>
              <a:t>No old deck numbers promoted as fact.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83F5B4-E495-4F9B-AB41-A4E361D6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9525">
            <a:solidFill>
              <a:srgbClr val="1F3D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7A8BF5-C68E-47D1-A0A8-8B2DE53F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90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EA"/>
          </a:solidFill>
          <a:ln xmlns:a="http://schemas.openxmlformats.org/drawingml/2006/main" w="0">
            <a:solidFill>
              <a:srgbClr val="BFED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E635E-3147-4E94-B911-0E8FC5B0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4832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FEDE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FED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D033E-BCFD-44D7-B79D-4C5B965E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2D9406-F1C6-4F07-9B9F-B3AFD3F0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67425"/>
            <a:ext cx="1600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7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7CF"/>
                </a:solidFill>
                <a:latin typeface="Aptos"/>
                <a:ea typeface="Aptos"/>
                <a:cs typeface="Aptos"/>
              </a:rPr>
              <a:t>real 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0068C6-FF97-4198-8B1D-65A0A4B5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76875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9525">
            <a:solidFill>
              <a:srgbClr val="1F3D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C360FA-E659-4341-AEA5-BD2735B1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76875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solidFill>
              <a:srgbClr val="C47A2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415B89-ECF7-4C44-A14B-E609C840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64832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47A2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47A2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43CAFA-F694-455F-9129-CFA86025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857875"/>
            <a:ext cx="2076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Diagnose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F96FAA-6DD5-43AF-95B7-B5C81035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067425"/>
            <a:ext cx="2076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7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7CF"/>
                </a:solidFill>
                <a:latin typeface="Aptos"/>
                <a:ea typeface="Aptos"/>
                <a:cs typeface="Aptos"/>
              </a:rPr>
              <a:t>leaks and repeated patterns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7AFEBD-AE21-486A-BCB6-9209C942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76875"/>
            <a:ext cx="276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9525">
            <a:solidFill>
              <a:srgbClr val="1F3D5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A295F8-D161-4774-9F44-6A41F4A9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76875"/>
            <a:ext cx="2762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EA"/>
          </a:solidFill>
          <a:ln xmlns:a="http://schemas.openxmlformats.org/drawingml/2006/main" w="0">
            <a:solidFill>
              <a:srgbClr val="BFED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6930A1-BFD2-4FC9-9BA3-FD7B94F5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64832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FEDE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FEDE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A0E6ED-329B-405E-B6F7-20DC19B0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857875"/>
            <a:ext cx="2457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Maintain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75E918-E4AC-4634-8E44-836F3A4B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067425"/>
            <a:ext cx="2457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7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7CF"/>
                </a:solidFill>
                <a:latin typeface="Aptos"/>
                <a:ea typeface="Aptos"/>
                <a:cs typeface="Aptos"/>
              </a:rPr>
              <a:t>automation as work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E12804-1E30-4BF3-822E-7D0DCF00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EA3A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EA3AF"/>
                </a:solidFill>
                <a:latin typeface="Aptos"/>
                <a:ea typeface="Aptos"/>
                <a:cs typeface="Aptos"/>
              </a:rPr>
              <a:t>SOURCE-CLEAN WORKING DECK | 09 JUN 2026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81A3E4-9ACD-44CA-9CF6-09C11BC1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8EA3A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EA3A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702347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AB256E-83C4-4945-AD55-71D2802D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D3237-17EC-4676-A290-5F5B2ED7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D77"/>
                </a:solidFill>
                <a:latin typeface="Aptos"/>
                <a:ea typeface="Aptos"/>
                <a:cs typeface="Aptos"/>
              </a:rPr>
              <a:t>THE EXPENSIVE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F94C3-6AF3-4081-8261-BC98ABCA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7"/>
          </a:solidFill>
          <a:ln xmlns:a="http://schemas.openxmlformats.org/drawingml/2006/main" w="0">
            <a:solidFill>
              <a:srgbClr val="0B7D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E6409-8E29-4188-9425-D8C8CFA2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1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8231F"/>
                </a:solidFill>
                <a:latin typeface="Aptos Display"/>
                <a:ea typeface="Aptos Display"/>
                <a:cs typeface="Aptos Display"/>
              </a:rPr>
              <a:t>AI can only work from what you give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4D24A-ABA4-4A76-B01B-F221E7EF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3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9736D"/>
                </a:solidFill>
                <a:latin typeface="Aptos"/>
                <a:ea typeface="Aptos"/>
                <a:cs typeface="Aptos"/>
              </a:rPr>
              <a:t>Process docs show the official version. Value leaks in the actual work: exceptions, re-keying, tool switching, and workaround paths.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3884B-71F0-4B68-B0F7-914322B9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4667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6A41B-085A-496B-A5F5-86A846BE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B7D7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B7D77"/>
                </a:solidFill>
                <a:latin typeface="Aptos"/>
                <a:ea typeface="Aptos"/>
                <a:cs typeface="Aptos"/>
              </a:rPr>
              <a:t>OFFICIAL PROCESS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DCE34-2678-483D-8DFB-5B886D4C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908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FD2"/>
          </a:solidFill>
          <a:ln xmlns:a="http://schemas.openxmlformats.org/drawingml/2006/main" w="0">
            <a:solidFill>
              <a:srgbClr val="E6DF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4CD48-919D-461D-8858-E45462C5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57525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Receive 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CD459-C321-4353-B50A-FD99FEC8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57525"/>
            <a:ext cx="171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D77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D1C9B-3D81-4323-998E-38362A0C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480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FD2"/>
          </a:solidFill>
          <a:ln xmlns:a="http://schemas.openxmlformats.org/drawingml/2006/main" w="0">
            <a:solidFill>
              <a:srgbClr val="E6DF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2F4E1-60D2-4544-94B5-4F82F547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14725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Check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CC6B85-7618-4117-96D0-C410AEC2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14725"/>
            <a:ext cx="171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D77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7A8C3-B9D3-47F1-BA9B-E5382B10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FD2"/>
          </a:solidFill>
          <a:ln xmlns:a="http://schemas.openxmlformats.org/drawingml/2006/main" w="0">
            <a:solidFill>
              <a:srgbClr val="E6DF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40CB6-C483-44B2-8B11-C1ED8ED6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71925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Complete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6327E-0E4D-4CB1-8FCB-F691D9C2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71925"/>
            <a:ext cx="171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D77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9248E-063A-483A-A648-14178F7A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624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FD2"/>
          </a:solidFill>
          <a:ln xmlns:a="http://schemas.openxmlformats.org/drawingml/2006/main" w="0">
            <a:solidFill>
              <a:srgbClr val="E6DF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3016DB-A0C3-4837-81DD-013E54D9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29125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Update record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DBAD1A-797A-46C8-A8EB-9FA4955E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29125"/>
            <a:ext cx="171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D77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C7E064-29D4-43DA-8313-88540810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3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9736D"/>
                </a:solidFill>
                <a:latin typeface="Aptos"/>
                <a:ea typeface="Aptos"/>
                <a:cs typeface="Aptos"/>
              </a:rPr>
              <a:t>Clean, static, and easy to automate on paper.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D9A1F9-D1A5-4616-8495-5102628E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86000"/>
            <a:ext cx="56959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9525">
            <a:solidFill>
              <a:srgbClr val="07152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B9FE83-1FA1-4423-9362-786E2DC3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527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FEDE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FEDEA"/>
                </a:solidFill>
                <a:latin typeface="Aptos"/>
                <a:ea typeface="Aptos"/>
                <a:cs typeface="Aptos"/>
              </a:rPr>
              <a:t>ACTUAL 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2EF27F-DF19-47C8-A5AA-0A0943A2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93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4A"/>
          </a:solidFill>
          <a:ln xmlns:a="http://schemas.openxmlformats.org/drawingml/2006/main" w="0">
            <a:solidFill>
              <a:srgbClr val="17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ED64BE-4AB1-4995-86BC-834BC17F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28975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Inbox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3DFEC3-4C7F-45F7-BADF-0AED0CEB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147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4A"/>
          </a:solidFill>
          <a:ln xmlns:a="http://schemas.openxmlformats.org/drawingml/2006/main" w="0">
            <a:solidFill>
              <a:srgbClr val="17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512F8B-EF05-4729-9484-098B7312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00425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5A3B23-0E81-4B22-85EF-BAAEADC3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432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4A"/>
          </a:solidFill>
          <a:ln xmlns:a="http://schemas.openxmlformats.org/drawingml/2006/main" w="0">
            <a:solidFill>
              <a:srgbClr val="1736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C3C27-C834-4E02-8F48-B31F231D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28975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Spreadsheet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43C11D-3D44-4943-988B-79C0F1A0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4A"/>
          </a:solidFill>
          <a:ln xmlns:a="http://schemas.openxmlformats.org/drawingml/2006/main" w="0">
            <a:solidFill>
              <a:srgbClr val="17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D42D12-C24D-4CD9-97DC-5E67E0D4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81475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Slack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162CB0-614F-418E-8245-C0617FA3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1005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4A"/>
          </a:solidFill>
          <a:ln xmlns:a="http://schemas.openxmlformats.org/drawingml/2006/main" w="0">
            <a:solidFill>
              <a:srgbClr val="1736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30627D-6216-4168-91E7-50A8D417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295775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Billing tool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1FD8F8-4D40-49D6-B363-E400E95B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90525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53E"/>
          </a:solidFill>
          <a:ln xmlns:a="http://schemas.openxmlformats.org/drawingml/2006/main" w="0">
            <a:solidFill>
              <a:srgbClr val="A9453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0557BA-AF3C-4EDC-8861-5CDDAFD4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990975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Manual fix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64C603-F372-4369-A415-3CE823CB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1475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47A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47A2C"/>
                </a:solidFill>
                <a:latin typeface="Aptos"/>
                <a:ea typeface="Aptos"/>
                <a:cs typeface="Aptos"/>
              </a:rPr>
              <a:t>copy/paste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062D51-C2D1-4E8B-AD4A-E9EECB4D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67665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3C6C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3C6C1"/>
                </a:solidFill>
                <a:latin typeface="Aptos"/>
                <a:ea typeface="Aptos"/>
                <a:cs typeface="Aptos"/>
              </a:rPr>
              <a:t>exception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779142-2C16-4085-B04C-7692108B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625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1D1A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1D1A6"/>
                </a:solidFill>
                <a:latin typeface="Aptos"/>
                <a:ea typeface="Aptos"/>
                <a:cs typeface="Aptos"/>
              </a:rPr>
              <a:t>workaround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1D5478-D315-497A-A3AA-B4CCFC1D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57850"/>
            <a:ext cx="929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4E075D-F4DC-4E4B-9735-0C08E442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912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Result: AI automates a projection of the process, so deployments stall, break, or underdeliver.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D1E889-C859-433F-932E-C2DC7285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SOURCE-CLEAN WORKING DECK | 09 JUN 2026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E656E9-CED5-4767-887B-664BDD08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082956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BB3A88-D8D8-46A7-9330-F2269A0E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C20EF-2730-4645-BDA2-5E43D49A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D77"/>
                </a:solidFill>
                <a:latin typeface="Aptos"/>
                <a:ea typeface="Aptos"/>
                <a:cs typeface="Aptos"/>
              </a:rPr>
              <a:t>WHAT GO2 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AE598-A147-40E0-9702-CF39C0B0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7"/>
          </a:solidFill>
          <a:ln xmlns:a="http://schemas.openxmlformats.org/drawingml/2006/main" w="0">
            <a:solidFill>
              <a:srgbClr val="0B7D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04BBB-CAAB-4D34-8574-C0D9DD1C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1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8231F"/>
                </a:solidFill>
                <a:latin typeface="Aptos Display"/>
                <a:ea typeface="Aptos Display"/>
                <a:cs typeface="Aptos Display"/>
              </a:rPr>
              <a:t>Observed work becomes workflow intelligence, then maintained automation.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78FD1-5E80-4574-B207-30EEF0A1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3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9736D"/>
                </a:solidFill>
                <a:latin typeface="Aptos"/>
                <a:ea typeface="Aptos"/>
                <a:cs typeface="Aptos"/>
              </a:rPr>
              <a:t>The product system is not a one-time assistant. It is a loop that keeps automation aligned as real work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79E2C-5685-44C6-B579-F326C0C0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BA628-1BE2-47F3-8A52-F56D38BE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7"/>
          </a:solidFill>
          <a:ln xmlns:a="http://schemas.openxmlformats.org/drawingml/2006/main" w="0">
            <a:solidFill>
              <a:srgbClr val="0B7D7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C764B-3F53-406B-9D26-61D614F1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7D7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7D7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EC6C7-1045-49C9-B453-E761A327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80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Observed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BCA66-F1E0-4941-8CD0-26CAA8BC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800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Apps, URLs, task patterns, copy/paste paths, exceptions, and repeated decisions.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178AA-7AC5-41AF-8601-0E8D4145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83C36-6C18-4BEC-A764-4CCF283D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C"/>
          </a:solidFill>
          <a:ln xmlns:a="http://schemas.openxmlformats.org/drawingml/2006/main" w="0">
            <a:solidFill>
              <a:srgbClr val="315C8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40376-1D97-4E30-99FF-E8632C79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98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C8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5C8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8FDB1-0C3E-4776-8097-CB1DDA53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57500"/>
            <a:ext cx="280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Workflow intelligence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53650-A650-4E5B-9484-B2BF4511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33750"/>
            <a:ext cx="2800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Workflow maps, time audit, bottlenecks, ranked automation candidates, and recoverable-hours view.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B2D991-7357-46AA-A4D2-098F2D4D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597B09-1F67-439F-BF7B-E500884F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solidFill>
              <a:srgbClr val="C47A2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0D0F7B-82C5-4289-B92B-CEB2E32B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098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7A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47A2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149C54-6081-41DE-951C-32A224C9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57500"/>
            <a:ext cx="280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Maintained automation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A55E45-4725-4A12-84F1-7BD90F5C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0"/>
            <a:ext cx="2800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Instructions, connectors, triggers, scripts, approvals, monitoring, and rewrites.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DA4B63-CE0D-4A95-8DA1-1EA084DE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813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7D7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7D77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514FD1-90B4-4A40-8652-E2789C70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813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7D7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7D77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AB2498-A0E4-440D-86E6-E659FBBB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57800"/>
            <a:ext cx="8810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9525">
            <a:solidFill>
              <a:srgbClr val="07152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CA38C5-30D5-4AA9-8E94-C2B73B87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53050"/>
            <a:ext cx="828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customers pay monthly: tools change, exceptions change, and the automation layer needs maintenance.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855C1B-507B-4CCB-A517-29076651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SOURCE-CLEAN WORKING DECK | 09 JUN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E04EEB-E210-4FFB-AACD-53614CD7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688292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40E119-CA9A-4B12-8C17-96F21CA9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31555-5880-4095-9D3C-2689A6F3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D77"/>
                </a:solidFill>
                <a:latin typeface="Aptos"/>
                <a:ea typeface="Aptos"/>
                <a:cs typeface="Aptos"/>
              </a:rPr>
              <a:t>HOW THE PILOT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58B07-DDE0-448F-A2F5-ED308F90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7"/>
          </a:solidFill>
          <a:ln xmlns:a="http://schemas.openxmlformats.org/drawingml/2006/main" w="0">
            <a:solidFill>
              <a:srgbClr val="0B7D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F37B0-092C-4AA3-8516-86F448D0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1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8231F"/>
                </a:solidFill>
                <a:latin typeface="Aptos Display"/>
                <a:ea typeface="Aptos Display"/>
                <a:cs typeface="Aptos Display"/>
              </a:rPr>
              <a:t>Low-friction discovery with worker-visible controls.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CFF64-4F36-4B14-915C-51A4534C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3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9736D"/>
                </a:solidFill>
                <a:latin typeface="Aptos"/>
                <a:ea typeface="Aptos"/>
                <a:cs typeface="Aptos"/>
              </a:rPr>
              <a:t>The pilot can prove the workflow substrate without asking the company to trust a black-box deployment.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BD6E1-885C-439F-A3F5-0E97CE6C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1145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CDCFF-704C-487B-9E0C-3441C7B2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7D7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7D77"/>
                </a:solidFill>
                <a:latin typeface="Aptos Display"/>
                <a:ea typeface="Aptos Display"/>
                <a:cs typeface="Aptos Display"/>
              </a:rPr>
              <a:t>30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25BDE-3A7A-4BEC-AAE0-614C0AC7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Scope 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E0BC2-93F3-415B-BBEB-0AD3A108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Pick one person or role and define the workflow boundary.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30237-F36E-4F6C-80F0-3BA8945F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21145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0F55C-4065-4D12-A2D3-82F37A37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289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7D7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7D77"/>
                </a:solidFill>
                <a:latin typeface="Aptos Display"/>
                <a:ea typeface="Aptos Display"/>
                <a:cs typeface="Aptos Display"/>
              </a:rPr>
              <a:t>15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668B3-899A-412C-AC6D-A52482F7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051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Install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F23F3-0A9C-412E-8AF5-D994360E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861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Quiet local daemon begins observing work during the pilot.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1F3BA-A78F-4F17-BA90-6C9923E3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62200"/>
            <a:ext cx="21145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B7E800-2D88-416C-81BD-692FFF8B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289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47A2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C47A2C"/>
                </a:solidFill>
                <a:latin typeface="Aptos Display"/>
                <a:ea typeface="Aptos Display"/>
                <a:cs typeface="Aptos Display"/>
              </a:rPr>
              <a:t>2 weeks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66F4F3-7104-4809-84ED-9D3B54E2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051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652F23-1A49-46D7-81A6-47A8C3CC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861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Capture patterns, repeated loops, exceptions, and tool switching.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FDB0F4-FD81-47DA-BA68-61CC41C7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62200"/>
            <a:ext cx="21145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E8F24D-1331-4D49-A728-AC3D21BC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289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7D7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7D77"/>
                </a:solidFill>
                <a:latin typeface="Aptos Display"/>
                <a:ea typeface="Aptos Display"/>
                <a:cs typeface="Aptos Display"/>
              </a:rPr>
              <a:t>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6FBCF5-6D98-4EED-A273-575EE9C5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051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Share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C73B78-79F5-4B63-8CD0-DC2E7A69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Worker can review/redact before anything leaves local context.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A30C5B-DAD1-4853-B161-1AED7417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363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9525">
            <a:solidFill>
              <a:srgbClr val="07152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2F3D48-98B8-40CB-99CC-54B8240F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76825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Trust posture: local-first, worker-visible, pausable, stoppable, reviewable, redactable.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7C7FF2-46ED-40F3-AF1F-E521D2E6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864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C7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7CF"/>
                </a:solidFill>
                <a:latin typeface="Aptos"/>
                <a:ea typeface="Aptos"/>
                <a:cs typeface="Aptos"/>
              </a:rPr>
              <a:t>This needs to appear early because the collection method is powerful.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0C3979-6DB1-4905-A832-7E1C8DC7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SOURCE-CLEAN WORKING DECK | 09 JUN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BC5A10-712C-45B5-86F0-3B5E7398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458876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CD4926-3FAB-4035-ABF5-13804C4A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882AF-4B70-40D4-B157-4E560A8A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D77"/>
                </a:solidFill>
                <a:latin typeface="Aptos"/>
                <a:ea typeface="Aptos"/>
                <a:cs typeface="Aptos"/>
              </a:rPr>
              <a:t>THE WEDGE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9C6D6-53DC-4F27-ABD6-19CE6381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7"/>
          </a:solidFill>
          <a:ln xmlns:a="http://schemas.openxmlformats.org/drawingml/2006/main" w="0">
            <a:solidFill>
              <a:srgbClr val="0B7D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EB888-3D65-44CB-B7FD-0C4FD683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1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8231F"/>
                </a:solidFill>
                <a:latin typeface="Aptos Display"/>
                <a:ea typeface="Aptos Display"/>
                <a:cs typeface="Aptos Display"/>
              </a:rPr>
              <a:t>One person, two weeks, six defined outputs.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DA81F-52E2-44C6-AD89-86C49C56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3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9736D"/>
                </a:solidFill>
                <a:latin typeface="Aptos"/>
                <a:ea typeface="Aptos"/>
                <a:cs typeface="Aptos"/>
              </a:rPr>
              <a:t>The report opens the door; the product is the maintained loop behind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2066C-CC26-463F-950F-A8A2B1D4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2667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9525">
            <a:solidFill>
              <a:srgbClr val="07152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67257-DC66-4F5A-BB8D-4E7799A5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76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BFEDEA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BFEDEA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FA0F3-C282-4661-A431-C49C5383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42D2C-5BAE-461A-B5C8-763FC6F6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solidFill>
              <a:srgbClr val="C47A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F7B89-DF16-4950-9E61-F20817C5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76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BFEDEA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BFEDEA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F5937-2B44-474A-9CE7-181BF31A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9C038-53F8-44DE-B9E8-6E527E51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241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EA1FE-5306-4A43-BBA1-4A982E19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241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7"/>
          </a:solidFill>
          <a:ln xmlns:a="http://schemas.openxmlformats.org/drawingml/2006/main" w="0">
            <a:solidFill>
              <a:srgbClr val="0B7D7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F26361-5DCC-418B-B545-0BFFF058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5146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time audit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AE4D6F-72CC-49C6-907D-957DC8DA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873B64-0DB2-4F65-ABC6-C86379D4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C"/>
          </a:solidFill>
          <a:ln xmlns:a="http://schemas.openxmlformats.org/drawingml/2006/main" w="0">
            <a:solidFill>
              <a:srgbClr val="315C8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72D2DE-9249-41D4-AE0A-59566839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146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ranked automation opportunities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576CFD-9462-4E2D-B558-DCB4BE38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24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F11E53-FE9B-422D-8796-D2216734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242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7"/>
          </a:solidFill>
          <a:ln xmlns:a="http://schemas.openxmlformats.org/drawingml/2006/main" w="0">
            <a:solidFill>
              <a:srgbClr val="0B7D7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099AFE-85BF-4427-A942-C365AA9C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3147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automation recipes/tools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07271E-89B3-4C44-AF09-0F8ED3AE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24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5921E6-7171-4F35-808C-A7E86932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242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C"/>
          </a:solidFill>
          <a:ln xmlns:a="http://schemas.openxmlformats.org/drawingml/2006/main" w="0">
            <a:solidFill>
              <a:srgbClr val="315C8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B7DB38-FE6B-4004-82AC-6B13E4F6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147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implementation help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2BC6EC-76B2-4672-9F94-606202E4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9243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EFDA6C-D63C-43AA-98E6-521D09A8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9243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7"/>
          </a:solidFill>
          <a:ln xmlns:a="http://schemas.openxmlformats.org/drawingml/2006/main" w="0">
            <a:solidFill>
              <a:srgbClr val="0B7D7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41150C-CFB2-4E09-B5D3-A71CF66A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148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recoverable-hours estimate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263344-FD88-4365-97ED-513A821F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243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BE0B7E-3C71-45E8-B28E-D119622B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243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C"/>
          </a:solidFill>
          <a:ln xmlns:a="http://schemas.openxmlformats.org/drawingml/2006/main" w="0">
            <a:solidFill>
              <a:srgbClr val="315C8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7099D0-1ABF-4F26-9399-A99402D4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148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security findings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023C7B-1ADB-4ABA-9926-17877E2E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5775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1A6"/>
          </a:solidFill>
          <a:ln xmlns:a="http://schemas.openxmlformats.org/drawingml/2006/main" w="9525">
            <a:solidFill>
              <a:srgbClr val="F1D1A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28EEB1-9857-4B9E-AB32-29DF45BF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2920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Source-clean boundary: no price, no proof count, no customer name until approved.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1B3ABA-515F-434A-AE0E-5B36F0F4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SOURCE-CLEAN WORKING DECK | 09 JUN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52EC7A-EA3E-4C7B-BEF4-F0CAA21D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958320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06B7F1-1B24-4575-8ABF-7CC202E8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6882F-7D69-4E05-9198-9FC43C53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ED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EDEA"/>
                </a:solidFill>
                <a:latin typeface="Aptos"/>
                <a:ea typeface="Aptos"/>
                <a:cs typeface="Aptos"/>
              </a:rPr>
              <a:t>THE RECURRING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A32BB-730E-4FD3-9BD5-C0FD6298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EA"/>
          </a:solidFill>
          <a:ln xmlns:a="http://schemas.openxmlformats.org/drawingml/2006/main" w="0">
            <a:solidFill>
              <a:srgbClr val="BFED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4352A-3C43-4D1C-B4F9-F531FD69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Customers do not pay monthly for a one-time report.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6286C-2A72-4107-9164-3BC3624E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C7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7CF"/>
                </a:solidFill>
                <a:latin typeface="Aptos"/>
                <a:ea typeface="Aptos"/>
                <a:cs typeface="Aptos"/>
              </a:rPr>
              <a:t>They pay because work changes, tools change, exceptions change, and the automation layer has to stay current.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8601B-0019-4549-805A-D005F274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7660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8"/>
          </a:solidFill>
          <a:ln xmlns:a="http://schemas.openxmlformats.org/drawingml/2006/main" w="9525">
            <a:solidFill>
              <a:srgbClr val="2444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C4332-5FB7-4EA4-90E4-1AC3D1BF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433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Maintained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automation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17953-6A18-4B6B-B212-BAC3EE36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8125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9525">
            <a:solidFill>
              <a:srgbClr val="2444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6E763-7531-4C78-9435-DC9283DB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5270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FEDE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FED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B835F-FA44-4798-A3E9-DBA69D66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241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6F31A-B3AF-4796-8A7C-5607428D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6227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7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7CF"/>
                </a:solidFill>
                <a:latin typeface="Aptos"/>
                <a:ea typeface="Aptos"/>
                <a:cs typeface="Aptos"/>
              </a:rPr>
              <a:t>real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BD83B-FFC0-4B22-B4B5-34778E7D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7645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9525">
            <a:solidFill>
              <a:srgbClr val="24445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518AC-7B88-47BC-AD30-4A06B718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4790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47A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47A2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C7830-7FCF-47AC-8B29-3F301A6C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193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5214B-615B-4F67-9813-32BFFF0F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5747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7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7CF"/>
                </a:solidFill>
                <a:latin typeface="Aptos"/>
                <a:ea typeface="Aptos"/>
                <a:cs typeface="Aptos"/>
              </a:rPr>
              <a:t>repeated patterns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46F3D5-8EFB-4B45-8D24-1822EA23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8125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9525">
            <a:solidFill>
              <a:srgbClr val="24445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F7C369-EE19-42BF-80DD-1456497E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5270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FEDE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FEDE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DB73E-54D0-47E9-9F3E-F5BC0E8E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176990-93A0-4F92-849C-1AC36ABF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6227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7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7CF"/>
                </a:solidFill>
                <a:latin typeface="Aptos"/>
                <a:ea typeface="Aptos"/>
                <a:cs typeface="Aptos"/>
              </a:rPr>
              <a:t>keep judgment human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9C1257-8195-4A51-B67A-AEA5A6B9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8630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9525">
            <a:solidFill>
              <a:srgbClr val="24445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C081E0-B964-4F80-AE96-FCD0D7A9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5775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47A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47A2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72597E-2FDE-41E9-82EF-3B7B263B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292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Deploy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56B179-2966-4C56-90C6-32FF9A9A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26732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7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7CF"/>
                </a:solidFill>
                <a:latin typeface="Aptos"/>
                <a:ea typeface="Aptos"/>
                <a:cs typeface="Aptos"/>
              </a:rPr>
              <a:t>approved changes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23DCA9-C98F-4124-9D9C-BEC1F51A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5780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9525">
            <a:solidFill>
              <a:srgbClr val="24445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2457AA-1FB4-4519-B1C2-7DD8992A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42925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FEDE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FEDE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17288B-0786-4B43-A377-5B73FDDF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6007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Monitor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588BD0-4286-41B5-A1A2-BDDF0834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83882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7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7CF"/>
                </a:solidFill>
                <a:latin typeface="Aptos"/>
                <a:ea typeface="Aptos"/>
                <a:cs typeface="Aptos"/>
              </a:rPr>
              <a:t>drift and results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F53B27-E3A7-42E8-87EB-3CD9C85C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8630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9525">
            <a:solidFill>
              <a:srgbClr val="24445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5B9301-9F36-47B3-9512-EA88B7E0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47A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47A2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422A28-7925-468E-87D5-60127D9F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Update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521AEC-4E1A-4C34-AF46-B1E6BE41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6732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7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7CF"/>
                </a:solidFill>
                <a:latin typeface="Aptos"/>
                <a:ea typeface="Aptos"/>
                <a:cs typeface="Aptos"/>
              </a:rPr>
              <a:t>adapt as work changes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13342A-AA61-40E4-AC4C-93CB6BA9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52700"/>
            <a:ext cx="333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FEDE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FEDEA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B61A35-A83E-45F9-A328-D092FFE0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52700"/>
            <a:ext cx="333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FEDE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FEDEA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C8DA8C-7494-4011-974B-24ED643A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333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FEDE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FEDEA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032DE8-2E7A-41A6-B865-3AFC3386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72100"/>
            <a:ext cx="333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FEDE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FEDEA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398EF2-8A61-489B-82DB-B662CD5E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372100"/>
            <a:ext cx="333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FEDE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FEDEA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BE11C9-0542-46CB-81DA-EB439C28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95750"/>
            <a:ext cx="333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FEDE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FEDEA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71E22E-1CEC-4360-93D8-0365BE6D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EA3A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EA3AF"/>
                </a:solidFill>
                <a:latin typeface="Aptos"/>
                <a:ea typeface="Aptos"/>
                <a:cs typeface="Aptos"/>
              </a:rPr>
              <a:t>SOURCE-CLEAN WORKING DECK | 09 JUN 2026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2C41B2-DBCB-4E5C-9FCE-607E26FD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8EA3A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EA3A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327538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C3C14B-6C40-4D46-B525-DA53F50B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E2080-6D4E-43DE-87A0-318D42DB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D77"/>
                </a:solidFill>
                <a:latin typeface="Aptos"/>
                <a:ea typeface="Aptos"/>
                <a:cs typeface="Aptos"/>
              </a:rPr>
              <a:t>GO-TO-MARKET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840F6-5692-4600-B4FB-2454EEA2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7"/>
          </a:solidFill>
          <a:ln xmlns:a="http://schemas.openxmlformats.org/drawingml/2006/main" w="0">
            <a:solidFill>
              <a:srgbClr val="0B7D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0968C-21AE-4866-8706-C29F3FDB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1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8231F"/>
                </a:solidFill>
                <a:latin typeface="Aptos Display"/>
                <a:ea typeface="Aptos Display"/>
                <a:cs typeface="Aptos Display"/>
              </a:rPr>
              <a:t>Sell the truth first. Convert measured value into recurring automation.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09B05-A0F7-4F61-8079-2E3CB539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3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9736D"/>
                </a:solidFill>
                <a:latin typeface="Aptos"/>
                <a:ea typeface="Aptos"/>
                <a:cs typeface="Aptos"/>
              </a:rPr>
              <a:t>Safe structure until pricing is supplied: one-person proof point -&gt; paid team pilot -&gt; maintained recurring automation.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A67D4-449D-44DC-BFEF-2412FE81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7571B-F400-450F-8E13-BFAEA1CE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7"/>
          </a:solidFill>
          <a:ln xmlns:a="http://schemas.openxmlformats.org/drawingml/2006/main" w="0">
            <a:solidFill>
              <a:srgbClr val="0B7D7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E2516-716C-4CB3-8D60-AFF45532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62325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D7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94D55-DCC0-4573-A70D-D7A74C6A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29025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One-person proof 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C8A7A-F99E-4C66-B9A7-9489F43F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62425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Two-week Workflow Discovery Pilot; buyer sees the hidden work and ranked automation opportunities.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5D9BB-66BF-4E0F-85E8-1543CF1E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2333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453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453E"/>
                </a:solidFill>
                <a:latin typeface="Aptos"/>
                <a:ea typeface="Aptos"/>
                <a:cs typeface="Aptos"/>
              </a:rPr>
              <a:t>Pricing: pending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B9BED-9C1E-452B-BDBD-0F554B63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62250"/>
            <a:ext cx="2857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06F798-36B7-4024-BB5C-9AB5D723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622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C"/>
          </a:solidFill>
          <a:ln xmlns:a="http://schemas.openxmlformats.org/drawingml/2006/main" w="0">
            <a:solidFill>
              <a:srgbClr val="315C8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C14843-352D-411B-A6CF-6A7CB409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2895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D7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07EF8-9468-45A6-84EE-F2E4383C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956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Paid team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EF2078-63AD-4C7F-AB7F-136FFDDA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829050"/>
            <a:ext cx="2333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Expand to a team workflow, implement first approved automations, and measure before/after value.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FBD696-4DAC-4AF8-9C67-D63C4747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610100"/>
            <a:ext cx="2333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453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453E"/>
                </a:solidFill>
                <a:latin typeface="Aptos"/>
                <a:ea typeface="Aptos"/>
                <a:cs typeface="Aptos"/>
              </a:rPr>
              <a:t>Range: Scott/Andy input needed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EE012D-C8CD-4446-917C-AD7E2256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28875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9525">
            <a:solidFill>
              <a:srgbClr val="0715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6A8B24-5772-4E23-B72C-18C0BD6C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28875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7"/>
          </a:solidFill>
          <a:ln xmlns:a="http://schemas.openxmlformats.org/drawingml/2006/main" w="0">
            <a:solidFill>
              <a:srgbClr val="0B7D7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3CCB71-5A45-4390-9499-08981C6A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95575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ED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EDE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A70C1F-DAFC-4213-96B9-12864232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62275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Maintained recurring automation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5A1998-1396-4A8F-81FE-607406C3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95675"/>
            <a:ext cx="2333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C7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7CF"/>
                </a:solidFill>
                <a:latin typeface="Aptos"/>
                <a:ea typeface="Aptos"/>
                <a:cs typeface="Aptos"/>
              </a:rPr>
              <a:t>Keep workflows, connectors, recipes, approvals, and automations current as work changes.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1838E9-2B22-4184-BAA0-6D9CAD39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10100"/>
            <a:ext cx="2333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D1A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D1A6"/>
                </a:solidFill>
                <a:latin typeface="Aptos"/>
                <a:ea typeface="Aptos"/>
                <a:cs typeface="Aptos"/>
              </a:rPr>
              <a:t>Recurring model: pending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C4E6FE-D0FA-46AA-A4A5-81FD40AA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10200"/>
            <a:ext cx="904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EA"/>
          </a:solidFill>
          <a:ln xmlns:a="http://schemas.openxmlformats.org/drawingml/2006/main" w="9525">
            <a:solidFill>
              <a:srgbClr val="BFED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DD98EF-CE76-409E-87A7-77251201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34025"/>
            <a:ext cx="847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Do not insert old $4K-$20K / $5K-$25K+ ranges until Scott/Andy source them for this deck.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69DAF4-C66E-4FCC-8731-D28F5D62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SOURCE-CLEAN WORKING DECK | 09 JUN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B562C9-E4B3-440F-B834-76FF7364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695543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3EEC6A-A264-40B8-B7BA-9493DCB6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1353C-B37A-485C-A5DA-DDBBEF39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D77"/>
                </a:solidFill>
                <a:latin typeface="Aptos"/>
                <a:ea typeface="Aptos"/>
                <a:cs typeface="Aptos"/>
              </a:rPr>
              <a:t>SOURCE RISK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6975C-5AD7-4D12-9872-D88DE05D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7"/>
          </a:solidFill>
          <a:ln xmlns:a="http://schemas.openxmlformats.org/drawingml/2006/main" w="0">
            <a:solidFill>
              <a:srgbClr val="0B7D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8F2F4-D429-447A-BFC7-0BBC9D22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1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8231F"/>
                </a:solidFill>
                <a:latin typeface="Aptos Display"/>
                <a:ea typeface="Aptos Display"/>
                <a:cs typeface="Aptos Display"/>
              </a:rPr>
              <a:t>Use pilot-to-recurring proof. Do not speculate.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B1382-669D-439D-88A9-7D853DEC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3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9736D"/>
                </a:solidFill>
                <a:latin typeface="Aptos"/>
                <a:ea typeface="Aptos"/>
                <a:cs typeface="Aptos"/>
              </a:rPr>
              <a:t>This slide is intentionally a source gate. It keeps the deck from amplifying prior AI or old-deck claims.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A8056-9F28-4BC7-9DF5-DA329A3F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812F3-B132-4341-BBFF-3E65B4BB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AD8"/>
          </a:solidFill>
          <a:ln xmlns:a="http://schemas.openxmlformats.org/drawingml/2006/main" w="0">
            <a:solidFill>
              <a:srgbClr val="D6EA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884BE4-F62D-4C52-86B7-87652B60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7B5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F7B52"/>
                </a:solidFill>
                <a:latin typeface="Aptos"/>
                <a:ea typeface="Aptos"/>
                <a:cs typeface="Aptos"/>
              </a:rPr>
              <a:t>GREEN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6B239-0467-4145-82B1-5D0AD841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- $3m raise amount</a:t>
            </a:r>
          </a:p>
          <a:p xmlns:a="http://schemas.openxmlformats.org/drawingml/2006/main">
            <a:pPr algn="l">
              <a:defRPr sz="97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- two-week one-person pilot</a:t>
            </a:r>
          </a:p>
          <a:p xmlns:a="http://schemas.openxmlformats.org/drawingml/2006/main">
            <a:pPr algn="l">
              <a:defRPr sz="97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- local-first pilot handling</a:t>
            </a:r>
          </a:p>
          <a:p xmlns:a="http://schemas.openxmlformats.org/drawingml/2006/main">
            <a:pPr algn="l">
              <a:defRPr sz="97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- worker controls</a:t>
            </a:r>
          </a:p>
          <a:p xmlns:a="http://schemas.openxmlformats.org/drawingml/2006/main">
            <a:pPr algn="l">
              <a:defRPr sz="97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- defined pilot deliverables</a:t>
            </a:r>
          </a:p>
          <a:p xmlns:a="http://schemas.openxmlformats.org/drawingml/2006/main">
            <a:pPr algn="l">
              <a:defRPr sz="97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- report as wedge; maintained loop as 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DEED6-C221-47BE-A79D-1E225E30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669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9C746-C0E6-4894-BDF7-657F0831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6695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1A6"/>
          </a:solidFill>
          <a:ln xmlns:a="http://schemas.openxmlformats.org/drawingml/2006/main" w="0">
            <a:solidFill>
              <a:srgbClr val="F1D1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89F5F2-43C1-4E72-8560-5C196AE4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003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7A2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47A2C"/>
                </a:solidFill>
                <a:latin typeface="Aptos"/>
                <a:ea typeface="Aptos"/>
                <a:cs typeface="Aptos"/>
              </a:rPr>
              <a:t>YELLOW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1A370-DC5F-48B1-9C38-E8DC8379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914650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- anonymous recoverable-hours examples</a:t>
            </a:r>
          </a:p>
          <a:p xmlns:a="http://schemas.openxmlformats.org/drawingml/2006/main">
            <a:pPr algn="l">
              <a:defRPr sz="97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- Battlbox or named customer proof</a:t>
            </a:r>
          </a:p>
          <a:p xmlns:a="http://schemas.openxmlformats.org/drawingml/2006/main">
            <a:pPr algn="l">
              <a:defRPr sz="97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- Concentrix/enterprise wording</a:t>
            </a:r>
          </a:p>
          <a:p xmlns:a="http://schemas.openxmlformats.org/drawingml/2006/main">
            <a:pPr algn="l">
              <a:defRPr sz="97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- use-of-funds milestones</a:t>
            </a:r>
          </a:p>
          <a:p xmlns:a="http://schemas.openxmlformats.org/drawingml/2006/main">
            <a:pPr algn="l">
              <a:defRPr sz="97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- compute/report cost</a:t>
            </a:r>
          </a:p>
          <a:p xmlns:a="http://schemas.openxmlformats.org/drawingml/2006/main">
            <a:pPr algn="l">
              <a:defRPr sz="97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- pipeline/hopper count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922F1-D0B2-4C0B-8CC6-E3E09DA1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669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BA38D-5043-4E99-AE55-2EDD143F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6695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C1"/>
          </a:solidFill>
          <a:ln xmlns:a="http://schemas.openxmlformats.org/drawingml/2006/main" w="0">
            <a:solidFill>
              <a:srgbClr val="F3C6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026D2-7CBD-41ED-9A9B-4D5E54B3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003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453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9453E"/>
                </a:solidFill>
                <a:latin typeface="Aptos"/>
                <a:ea typeface="Aptos"/>
                <a:cs typeface="Aptos"/>
              </a:rPr>
              <a:t>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D8EE4F-9968-4150-9878-AADBCE13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14650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- $500/person or $800/month</a:t>
            </a:r>
          </a:p>
          <a:p xmlns:a="http://schemas.openxmlformats.org/drawingml/2006/main">
            <a:pPr algn="l">
              <a:defRPr sz="97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- $4K-$20K / $5K-$25K+ as facts</a:t>
            </a:r>
          </a:p>
          <a:p xmlns:a="http://schemas.openxmlformats.org/drawingml/2006/main">
            <a:pPr algn="l">
              <a:defRPr sz="97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- $3.5M ARR / $50M cumulative</a:t>
            </a:r>
          </a:p>
          <a:p xmlns:a="http://schemas.openxmlformats.org/drawingml/2006/main">
            <a:pPr algn="l">
              <a:defRPr sz="97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- profitability today</a:t>
            </a:r>
          </a:p>
          <a:p xmlns:a="http://schemas.openxmlformats.org/drawingml/2006/main">
            <a:pPr algn="l">
              <a:defRPr sz="97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- Vigamore 300%/$4M</a:t>
            </a:r>
          </a:p>
          <a:p xmlns:a="http://schemas.openxmlformats.org/drawingml/2006/main">
            <a:pPr algn="l">
              <a:defRPr sz="97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- Concentrix as closed/live proof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391854-0978-4FE6-BDDF-4715C147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53100"/>
            <a:ext cx="990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Rule: if it traces only to Clyde, Larry, Moe, or a provisional deck, it stays out or gets labeled placeholder.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5FD611-EF77-4AA5-972F-BAC23825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SOURCE-CLEAN WORKING DECK | 09 JUN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355865-484E-47FD-9CD0-5C009048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8531439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D9EE82-FB56-42ED-B642-CBAB745A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62BB2-5A4B-4629-B5E3-9481BFA9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D77"/>
                </a:solidFill>
                <a:latin typeface="Aptos"/>
                <a:ea typeface="Aptos"/>
                <a:cs typeface="Aptos"/>
              </a:rPr>
              <a:t>WHY GO2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FA634-7341-42D9-9604-9FFD7123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7"/>
          </a:solidFill>
          <a:ln xmlns:a="http://schemas.openxmlformats.org/drawingml/2006/main" w="0">
            <a:solidFill>
              <a:srgbClr val="0B7D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B5717-B859-4CF0-ACE0-925D8892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1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8231F"/>
                </a:solidFill>
                <a:latin typeface="Aptos Display"/>
                <a:ea typeface="Aptos Display"/>
                <a:cs typeface="Aptos Display"/>
              </a:rPr>
              <a:t>Go2 starts where most AI vendors stop: real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60643-063E-45A1-9A00-0B2092A0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3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9736D"/>
                </a:solidFill>
                <a:latin typeface="Aptos"/>
                <a:ea typeface="Aptos"/>
                <a:cs typeface="Aptos"/>
              </a:rPr>
              <a:t>The advantage is not a claim about a model. It is direct workflow visibility, worker trust, and operating history around work itself.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BC93B-4298-46E3-ACD2-9A4647F9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7429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FD93C-7C04-40D3-912C-10DF56F4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B074A-7F1F-410E-8822-D2A6D2E4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Capability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8F346-48FF-4092-BF40-2E7DC942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8125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Generic AI / automation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A1BC3-FCB5-4A8D-9AC1-D4AE9694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76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FEDE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FEDEA"/>
                </a:solidFill>
                <a:latin typeface="Aptos"/>
                <a:ea typeface="Aptos"/>
                <a:cs typeface="Aptos"/>
              </a:rPr>
              <a:t>Go2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E03B6-1BD2-4587-AE37-E49D33E4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742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0"/>
          </a:solidFill>
          <a:ln xmlns:a="http://schemas.openxmlformats.org/drawingml/2006/main" w="0">
            <a:solidFill>
              <a:srgbClr val="FBF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3F04E-F378-4F5F-B5C4-87396DF1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Starting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8FCB7-576B-4E41-8AE8-EC077DA7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003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36D"/>
                </a:solidFill>
                <a:latin typeface="Aptos"/>
                <a:ea typeface="Aptos"/>
                <a:cs typeface="Aptos"/>
              </a:rPr>
              <a:t>Prompt, process doc, or system record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D34D3C-E732-4A8F-8338-60EA61B8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7D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7D77"/>
                </a:solidFill>
                <a:latin typeface="Aptos"/>
                <a:ea typeface="Aptos"/>
                <a:cs typeface="Aptos"/>
              </a:rPr>
              <a:t>Observed computer-based 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52EFE-5821-4875-BB33-B6F4B599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Automation approach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42A8A-CDF5-45EE-88F0-A7E18623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956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36D"/>
                </a:solidFill>
                <a:latin typeface="Aptos"/>
                <a:ea typeface="Aptos"/>
                <a:cs typeface="Aptos"/>
              </a:rPr>
              <a:t>One-time build or isolated assistant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9969E1-E26F-4467-B51F-B180B0CE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956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7D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7D77"/>
                </a:solidFill>
                <a:latin typeface="Aptos"/>
                <a:ea typeface="Aptos"/>
                <a:cs typeface="Aptos"/>
              </a:rPr>
              <a:t>Maintained automation layer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A60F19-36F3-4010-9858-C5AB39F6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742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0"/>
          </a:solidFill>
          <a:ln xmlns:a="http://schemas.openxmlformats.org/drawingml/2006/main" w="0">
            <a:solidFill>
              <a:srgbClr val="FBF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F6FA46-2111-4B99-9C2A-C7514034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Handling change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0CE0D4-89C5-40E0-A22D-905A2C00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909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36D"/>
                </a:solidFill>
                <a:latin typeface="Aptos"/>
                <a:ea typeface="Aptos"/>
                <a:cs typeface="Aptos"/>
              </a:rPr>
              <a:t>Manual rework after breakage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479D52-BF70-449D-B312-D62B0763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7D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7D77"/>
                </a:solidFill>
                <a:latin typeface="Aptos"/>
                <a:ea typeface="Aptos"/>
                <a:cs typeface="Aptos"/>
              </a:rPr>
              <a:t>Monitor, rewrite, and redeploy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FFDB32-14F6-45DF-BD36-B1360111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Trust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B114E8-CAFE-4C91-B77B-085EADED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862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36D"/>
                </a:solidFill>
                <a:latin typeface="Aptos"/>
                <a:ea typeface="Aptos"/>
                <a:cs typeface="Aptos"/>
              </a:rPr>
              <a:t>Centralized black box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C524EF-2F91-4083-AAE4-1AE2A906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7D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7D77"/>
                </a:solidFill>
                <a:latin typeface="Aptos"/>
                <a:ea typeface="Aptos"/>
                <a:cs typeface="Aptos"/>
              </a:rPr>
              <a:t>Local-first capture and human approvals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23EDB9-DE34-42D9-BF42-85763DA8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742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0"/>
          </a:solidFill>
          <a:ln xmlns:a="http://schemas.openxmlformats.org/drawingml/2006/main" w="0">
            <a:solidFill>
              <a:srgbClr val="FBF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F38231-CCB2-46CB-8106-3465088D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What compounds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607434-8DAB-4B02-8D87-603ADCB5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815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36D"/>
                </a:solidFill>
                <a:latin typeface="Aptos"/>
                <a:ea typeface="Aptos"/>
                <a:cs typeface="Aptos"/>
              </a:rPr>
              <a:t>Model usage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714611-C378-49BD-BA7D-3FBA2A5F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815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7D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7D77"/>
                </a:solidFill>
                <a:latin typeface="Aptos"/>
                <a:ea typeface="Aptos"/>
                <a:cs typeface="Aptos"/>
              </a:rPr>
              <a:t>Workflow patterns, exceptions, recipes, approvals over time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A35C66-2782-4C6F-BDAD-E19C19D5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38375"/>
            <a:ext cx="2857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9525">
            <a:solidFill>
              <a:srgbClr val="07152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36CB49-0248-4C19-B92C-A917F09C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336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Operating advantage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980C8A-A376-45C1-8B09-AFA5A171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90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solidFill>
              <a:srgbClr val="C47A2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41E48C-877E-4442-8F17-3CFD08A7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14700"/>
            <a:ext cx="2143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3D0D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3D0D7"/>
                </a:solidFill>
                <a:latin typeface="Aptos"/>
                <a:ea typeface="Aptos"/>
                <a:cs typeface="Aptos"/>
              </a:rPr>
              <a:t>Go2 has operated inside real work for years. Use that as credibility context, not as a hard scale metric until Scott/Andy source exact wording.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A96AF6-EC21-4883-9D6F-D47E62E4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24400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FED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FEDEA"/>
                </a:solidFill>
                <a:latin typeface="Aptos"/>
                <a:ea typeface="Aptos"/>
                <a:cs typeface="Aptos"/>
              </a:rPr>
              <a:t>Trust is part of the product, not an appendix.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7983A1-2F90-460A-B5DC-B57692D9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SOURCE-CLEAN WORKING DECK | 09 JUN 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38D2EC-6F48-4104-A351-D071B07B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287105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2F0354-44E1-4BF3-8ED0-59BA0EFC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4B698-AC19-4704-94FE-9C624EED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D77"/>
                </a:solidFill>
                <a:latin typeface="Aptos"/>
                <a:ea typeface="Aptos"/>
                <a:cs typeface="Aptos"/>
              </a:rPr>
              <a:t>FINANCIAL HISTORY / PROJECTIONS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C7C11-0A1B-4C9F-935F-438406F4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7"/>
          </a:solidFill>
          <a:ln xmlns:a="http://schemas.openxmlformats.org/drawingml/2006/main" w="0">
            <a:solidFill>
              <a:srgbClr val="0B7D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54C0E-6AAE-465A-800F-F54FBD31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1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8231F"/>
                </a:solidFill>
                <a:latin typeface="Aptos Display"/>
                <a:ea typeface="Aptos Display"/>
                <a:cs typeface="Aptos Display"/>
              </a:rPr>
              <a:t>Do not fill this slide with old numbers.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BA96F-7E4B-4926-A25C-F2BCFC67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3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9736D"/>
                </a:solidFill>
                <a:latin typeface="Aptos"/>
                <a:ea typeface="Aptos"/>
                <a:cs typeface="Aptos"/>
              </a:rPr>
              <a:t>Andy asked for revenue trajectory, new-offering profit margin, and ability to scale. Those need source-of-record inputs.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0785B-9C00-4AA8-AFA8-FF0CB51C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572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BF5B8-0B97-4420-824B-23231C64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57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9EE62-B7F6-4F4A-8690-C06A6E91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152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Field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6BC67-AF76-4D50-B352-45BC8871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source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9E103-F00C-44AF-92F9-AFB221A9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8600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Needed before external send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0B1DEC-EE47-4926-AE11-523D2132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57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0"/>
          </a:solidFill>
          <a:ln xmlns:a="http://schemas.openxmlformats.org/drawingml/2006/main" w="0">
            <a:solidFill>
              <a:srgbClr val="FBF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F77F4-F4AF-43A0-9973-F37C8E9B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Revenue trajectory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BE62DA-E8F6-4FC8-A630-94C61D79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05100"/>
            <a:ext cx="2762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453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453E"/>
                </a:solidFill>
                <a:latin typeface="Aptos"/>
                <a:ea typeface="Aptos"/>
                <a:cs typeface="Aptos"/>
              </a:rPr>
              <a:t>Missing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936F2D-2AFE-454D-8035-5495F2EF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05100"/>
            <a:ext cx="3476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Andy/Scott figures + timeframe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3B9C0D-2610-45EE-ABAB-14E63783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New-offering margin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E9C29-D940-4EA2-AE78-EEB94C59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0400"/>
            <a:ext cx="2762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453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453E"/>
                </a:solidFill>
                <a:latin typeface="Aptos"/>
                <a:ea typeface="Aptos"/>
                <a:cs typeface="Aptos"/>
              </a:rPr>
              <a:t>Missing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274A4-2F4E-439C-B22A-04F97505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0"/>
            <a:ext cx="3476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Metric or wording from Andy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2B232-43C6-43E6-AF79-88E8A33D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57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0"/>
          </a:solidFill>
          <a:ln xmlns:a="http://schemas.openxmlformats.org/drawingml/2006/main" w="0">
            <a:solidFill>
              <a:srgbClr val="FBF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8C949F-B3C3-46C7-93AC-02E26AAC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Ability to scale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2499BA-8AE0-4134-9E96-F36D1201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95700"/>
            <a:ext cx="2762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453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453E"/>
                </a:solidFill>
                <a:latin typeface="Aptos"/>
                <a:ea typeface="Aptos"/>
                <a:cs typeface="Aptos"/>
              </a:rPr>
              <a:t>Narrative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461F4D-672D-4360-A7C2-7C4F72AA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95700"/>
            <a:ext cx="3476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What capital changes and what milestone proves 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B06A6B-408F-4C59-BA94-C73F8B31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Pricing / range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59AC2D-55ED-464E-8C67-B89A7983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2762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453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453E"/>
                </a:solidFill>
                <a:latin typeface="Aptos"/>
                <a:ea typeface="Aptos"/>
                <a:cs typeface="Aptos"/>
              </a:rPr>
              <a:t>Missing; Andy waiting on Scott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8732C8-12F3-4872-9572-05F707EC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3476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Scott range so Andy can project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417AD6-979D-4C0C-9347-944FD5A7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57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0"/>
          </a:solidFill>
          <a:ln xmlns:a="http://schemas.openxmlformats.org/drawingml/2006/main" w="0">
            <a:solidFill>
              <a:srgbClr val="FBF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F5DD83-255C-467E-9B8A-43AFF189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Pilot-to-recurring proof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A1AE83-CE72-4511-92F7-5E1B18DB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86300"/>
            <a:ext cx="2762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453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453E"/>
                </a:solidFill>
                <a:latin typeface="Aptos"/>
                <a:ea typeface="Aptos"/>
                <a:cs typeface="Aptos"/>
              </a:rPr>
              <a:t>Preferred proof frame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8920EC-0451-444B-8C2F-729D4C87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86300"/>
            <a:ext cx="3476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Approved count, cohort, or anonymized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42DAAA-B8CF-4FEE-99A2-03CBC1D9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Raise amount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C91ED6-32AB-4413-94BB-00A89D1F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81600"/>
            <a:ext cx="2762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7B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F7B52"/>
                </a:solidFill>
                <a:latin typeface="Aptos"/>
                <a:ea typeface="Aptos"/>
                <a:cs typeface="Aptos"/>
              </a:rPr>
              <a:t>$3m sourced by Andy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D83BA3-77C8-4DFF-8377-2668A048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81600"/>
            <a:ext cx="3476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Use qualitative funds only unless budget supplied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B7AC4C-D845-4903-9572-5381163A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810250"/>
            <a:ext cx="845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C1"/>
          </a:solidFill>
          <a:ln xmlns:a="http://schemas.openxmlformats.org/drawingml/2006/main" w="9525">
            <a:solidFill>
              <a:srgbClr val="F3C6C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50DAA4-37DF-48AC-A15B-DA8DE1ED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86450"/>
            <a:ext cx="796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Excluded for now: $3.5M ARR, $50M cumulative revenue, profitability, old valuation, old pricing ranges.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A11A1C-CE38-49E3-BD17-03C1F3E6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SOURCE-CLEAN WORKING DECK | 09 JUN 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1F734C-F65F-4968-A48A-D98692E8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995897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20C684-757A-48AF-9418-F6DADC4D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A0269-15EF-45A4-920D-D09C98D5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ED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EDEA"/>
                </a:solidFill>
                <a:latin typeface="Aptos"/>
                <a:ea typeface="Aptos"/>
                <a:cs typeface="Aptos"/>
              </a:rPr>
              <a:t>THE RAISE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AD491-CEF4-4B03-82BD-7A6FE91F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EA"/>
          </a:solidFill>
          <a:ln xmlns:a="http://schemas.openxmlformats.org/drawingml/2006/main" w="0">
            <a:solidFill>
              <a:srgbClr val="BFED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83C4C-FE41-451B-A823-FA9291CB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00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$3m raise can turn the workflow-discovery wedge into a repeatable growth engine.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29500-59A1-4DE7-8F15-925A709F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C7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7CF"/>
                </a:solidFill>
                <a:latin typeface="Aptos"/>
                <a:ea typeface="Aptos"/>
                <a:cs typeface="Aptos"/>
              </a:rPr>
              <a:t>Use-of-funds remains qualitative until Scott/Andy provide budget allocations or milestones.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AC87D-0D2D-425E-B5F6-923AE726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8"/>
          </a:solidFill>
          <a:ln xmlns:a="http://schemas.openxmlformats.org/drawingml/2006/main" w="9525">
            <a:solidFill>
              <a:srgbClr val="2444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86E47-0923-42E6-A7D6-824A22CE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289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$3m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21072-EBBA-4DEB-B8DC-EAF87BC3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719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C7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C7CF"/>
                </a:solidFill>
                <a:latin typeface="Aptos"/>
                <a:ea typeface="Aptos"/>
                <a:cs typeface="Aptos"/>
              </a:rPr>
              <a:t>raise amount sourced from Andy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3F45E-FD5A-4848-9D4B-C5CEE168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C6C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3C6C1"/>
                </a:solidFill>
                <a:latin typeface="Aptos"/>
                <a:ea typeface="Aptos"/>
                <a:cs typeface="Aptos"/>
              </a:rPr>
              <a:t>No ARR/profit/cumulative revenue until confirmed.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3789E-39B8-415E-B85C-65663F01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717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9525">
            <a:solidFill>
              <a:srgbClr val="2444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C1580-FDAC-4689-9EBA-971A0ACC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717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EA"/>
          </a:solidFill>
          <a:ln xmlns:a="http://schemas.openxmlformats.org/drawingml/2006/main" w="0">
            <a:solidFill>
              <a:srgbClr val="BFED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2AA91-82B2-4921-8F43-9D69FD84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76225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FEDE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FED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C7F5F-D469-43FE-A26D-9B6172C4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527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 + engineering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B96842-03E2-40AB-B8D0-360E0A36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813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7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7CF"/>
                </a:solidFill>
                <a:latin typeface="Aptos"/>
                <a:ea typeface="Aptos"/>
                <a:cs typeface="Aptos"/>
              </a:rPr>
              <a:t>standardize deployment, connectors, governance, maintenance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835846-E778-46DB-AAFD-8245BCB4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717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9525">
            <a:solidFill>
              <a:srgbClr val="24445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28CF4-2FD5-450C-8F9A-A1994F50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717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EA"/>
          </a:solidFill>
          <a:ln xmlns:a="http://schemas.openxmlformats.org/drawingml/2006/main" w="0">
            <a:solidFill>
              <a:srgbClr val="BFED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ACA96-584B-4926-BFCB-A2A2C425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76225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FEDE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FEDE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3C71CA-10F0-4458-806C-08A738DF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9527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Sales motion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597CC2-87C8-427A-9FA8-C0A21025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1813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7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7CF"/>
                </a:solidFill>
                <a:latin typeface="Aptos"/>
                <a:ea typeface="Aptos"/>
                <a:cs typeface="Aptos"/>
              </a:rPr>
              <a:t>repeatable acquisition, proof-point conversion, investor-ready funnel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CDB136-E2E8-41F9-B176-92AD653D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1000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9525">
            <a:solidFill>
              <a:srgbClr val="24445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BD2116-2FEE-4655-ACBF-23C66304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100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DEA"/>
          </a:solidFill>
          <a:ln xmlns:a="http://schemas.openxmlformats.org/drawingml/2006/main" w="0">
            <a:solidFill>
              <a:srgbClr val="BFED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52D18E-D660-46FC-BDA5-2958D531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00050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FEDE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FEDE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FC77C4-C034-47E4-BE28-461AA0AB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910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Customer success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9B4B69-90D0-41B7-B9DC-5E789D7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4196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7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7CF"/>
                </a:solidFill>
                <a:latin typeface="Aptos"/>
                <a:ea typeface="Aptos"/>
                <a:cs typeface="Aptos"/>
              </a:rPr>
              <a:t>turn pilots into maintained recurring customers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1B9FF5-75D7-4DB8-9872-5177C1AF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1000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9525">
            <a:solidFill>
              <a:srgbClr val="24445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6A50E2-7F97-4056-B007-B1702521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100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53E"/>
          </a:solidFill>
          <a:ln xmlns:a="http://schemas.openxmlformats.org/drawingml/2006/main" w="0">
            <a:solidFill>
              <a:srgbClr val="A9453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AAD5E1-15B2-4958-9617-5E0F9FA4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00050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FEDE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FEDE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7C0C2F-2906-4498-B71B-CF9E1D57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1910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Compliance + security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F81BAD-1616-4071-9F6A-B0586518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4196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7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7CF"/>
                </a:solidFill>
                <a:latin typeface="Aptos"/>
                <a:ea typeface="Aptos"/>
                <a:cs typeface="Aptos"/>
              </a:rPr>
              <a:t>support larger customers and enterprise procurement path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F88AC4-15AB-4AD2-9F93-1911234D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245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7"/>
          </a:solidFill>
          <a:ln xmlns:a="http://schemas.openxmlformats.org/drawingml/2006/main" w="9525">
            <a:solidFill>
              <a:srgbClr val="0B7D7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9EC744-F259-4385-98BB-2BB00ED8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48325"/>
            <a:ext cx="619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Underwrite now: the wedge, the trust posture, and the path from pilot to recurring automation.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38BD05-438E-4477-BCB5-E34FC2A8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EA3A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EA3AF"/>
                </a:solidFill>
                <a:latin typeface="Aptos"/>
                <a:ea typeface="Aptos"/>
                <a:cs typeface="Aptos"/>
              </a:rPr>
              <a:t>SOURCE-CLEAN WORKING DECK | 09 JUN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69ACE5-0B7A-45B3-90ED-CC94B656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8EA3A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EA3A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317296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3E304A-E09C-4B38-8E8D-C3965937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35758-7488-440F-ABC7-6E82B12F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D77"/>
                </a:solidFill>
                <a:latin typeface="Aptos"/>
                <a:ea typeface="Aptos"/>
                <a:cs typeface="Aptos"/>
              </a:rPr>
              <a:t>SOURCE DISCIPLINE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644AB-D750-4767-A747-48772114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7"/>
          </a:solidFill>
          <a:ln xmlns:a="http://schemas.openxmlformats.org/drawingml/2006/main" w="0">
            <a:solidFill>
              <a:srgbClr val="0B7D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D40DC-F56E-4E48-936C-73556A0F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1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8231F"/>
                </a:solidFill>
                <a:latin typeface="Aptos Display"/>
                <a:ea typeface="Aptos Display"/>
                <a:cs typeface="Aptos Display"/>
              </a:rPr>
              <a:t>Fill these before external circulation.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6042F-C1A2-4653-AFC4-45354054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3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9736D"/>
                </a:solidFill>
                <a:latin typeface="Aptos"/>
                <a:ea typeface="Aptos"/>
                <a:cs typeface="Aptos"/>
              </a:rPr>
              <a:t>This is the working-deck control slide. Remove or convert after Scott/Andy supply the source-of-record facts.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F39A8-2520-4996-BD43-D91B3A10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E0B7C-0BF3-4334-9C94-BCBE4FC7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Needed 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04F78-A7B7-4875-9402-5F6DC2DB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4191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- pricing model or range for Andy</a:t>
            </a:r>
          </a:p>
          <a:p xmlns:a="http://schemas.openxmlformats.org/drawingml/2006/main">
            <a:pPr algn="l">
              <a:defRPr sz="112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- financial-history figures and timeframe</a:t>
            </a:r>
          </a:p>
          <a:p xmlns:a="http://schemas.openxmlformats.org/drawingml/2006/main">
            <a:pPr algn="l">
              <a:defRPr sz="112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- new-offering margin metric or wording</a:t>
            </a:r>
          </a:p>
          <a:p xmlns:a="http://schemas.openxmlformats.org/drawingml/2006/main">
            <a:pPr algn="l">
              <a:defRPr sz="112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- pilot-to-recurring proof count or anonymized proof</a:t>
            </a:r>
          </a:p>
          <a:p xmlns:a="http://schemas.openxmlformats.org/drawingml/2006/main">
            <a:pPr algn="l">
              <a:defRPr sz="112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- approved customer/proof names, if any</a:t>
            </a:r>
          </a:p>
          <a:p xmlns:a="http://schemas.openxmlformats.org/drawingml/2006/main">
            <a:pPr algn="l">
              <a:defRPr sz="1125" b="0">
                <a:solidFill>
                  <a:srgbClr val="2D393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D3934"/>
                </a:solidFill>
                <a:latin typeface="Aptos"/>
                <a:ea typeface="Aptos"/>
                <a:cs typeface="Aptos"/>
              </a:rPr>
              <a:t>- enterprise/Concentrix sentence, or omit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06A10-271C-431B-912E-F6029F92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38375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9525">
            <a:solidFill>
              <a:srgbClr val="07152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A32EB-F3AB-4ACF-9ECF-184B109C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241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 not use as fact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AC5A0-225D-4C0C-AD1F-FA2AA5FC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9900"/>
            <a:ext cx="4095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2E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2E7"/>
                </a:solidFill>
                <a:latin typeface="Aptos"/>
                <a:ea typeface="Aptos"/>
                <a:cs typeface="Aptos"/>
              </a:rPr>
              <a:t>- $500/person or $800/month</a:t>
            </a:r>
          </a:p>
          <a:p xmlns:a="http://schemas.openxmlformats.org/drawingml/2006/main">
            <a:pPr algn="l">
              <a:defRPr sz="1050" b="0">
                <a:solidFill>
                  <a:srgbClr val="D7E2E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2E7"/>
                </a:solidFill>
                <a:latin typeface="Aptos"/>
                <a:ea typeface="Aptos"/>
                <a:cs typeface="Aptos"/>
              </a:rPr>
              <a:t>- $4K-$20K or $5K-$25K+</a:t>
            </a:r>
          </a:p>
          <a:p xmlns:a="http://schemas.openxmlformats.org/drawingml/2006/main">
            <a:pPr algn="l">
              <a:defRPr sz="1050" b="0">
                <a:solidFill>
                  <a:srgbClr val="D7E2E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2E7"/>
                </a:solidFill>
                <a:latin typeface="Aptos"/>
                <a:ea typeface="Aptos"/>
                <a:cs typeface="Aptos"/>
              </a:rPr>
              <a:t>- $3.5M ARR or $50M cumulative</a:t>
            </a:r>
          </a:p>
          <a:p xmlns:a="http://schemas.openxmlformats.org/drawingml/2006/main">
            <a:pPr algn="l">
              <a:defRPr sz="1050" b="0">
                <a:solidFill>
                  <a:srgbClr val="D7E2E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2E7"/>
                </a:solidFill>
                <a:latin typeface="Aptos"/>
                <a:ea typeface="Aptos"/>
                <a:cs typeface="Aptos"/>
              </a:rPr>
              <a:t>- profitability today</a:t>
            </a:r>
          </a:p>
          <a:p xmlns:a="http://schemas.openxmlformats.org/drawingml/2006/main">
            <a:pPr algn="l">
              <a:defRPr sz="1050" b="0">
                <a:solidFill>
                  <a:srgbClr val="D7E2E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2E7"/>
                </a:solidFill>
                <a:latin typeface="Aptos"/>
                <a:ea typeface="Aptos"/>
                <a:cs typeface="Aptos"/>
              </a:rPr>
              <a:t>- Vigamore 300%/$4M</a:t>
            </a:r>
          </a:p>
          <a:p xmlns:a="http://schemas.openxmlformats.org/drawingml/2006/main">
            <a:pPr algn="l">
              <a:defRPr sz="1050" b="0">
                <a:solidFill>
                  <a:srgbClr val="D7E2E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2E7"/>
                </a:solidFill>
                <a:latin typeface="Aptos"/>
                <a:ea typeface="Aptos"/>
                <a:cs typeface="Aptos"/>
              </a:rPr>
              <a:t>- Concentrix closed/live proof</a:t>
            </a:r>
          </a:p>
          <a:p xmlns:a="http://schemas.openxmlformats.org/drawingml/2006/main">
            <a:pPr algn="l">
              <a:defRPr sz="1050" b="0">
                <a:solidFill>
                  <a:srgbClr val="D7E2E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2E7"/>
                </a:solidFill>
                <a:latin typeface="Aptos"/>
                <a:ea typeface="Aptos"/>
                <a:cs typeface="Aptos"/>
              </a:rPr>
              <a:t>- named customer proof without permission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6E198-638D-427A-A2D7-F4776CA5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A sparse honest deck beats a filled deck built on AI-to-AI drift.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AE268-1A83-4584-A233-FDE9F33E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SOURCE-CLEAN WORKING DECK | 09 JUN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65A8B-121E-42EB-91DF-C2F7A298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39853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2026-06-09T14:30:13.8880000Z</dcterms:created>
  <dcterms:modified xsi:type="dcterms:W3CDTF">2026-06-09T14:30:13.8880000Z</dcterms:modified>
</coreProperties>
</file>